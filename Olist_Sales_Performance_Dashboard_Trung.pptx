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6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8"/>
  </p:handoutMasterIdLst>
  <p:sldIdLst>
    <p:sldId id="340" r:id="rId4"/>
    <p:sldId id="341" r:id="rId6"/>
    <p:sldId id="342" r:id="rId7"/>
    <p:sldId id="372" r:id="rId8"/>
    <p:sldId id="408" r:id="rId9"/>
    <p:sldId id="373" r:id="rId10"/>
    <p:sldId id="409" r:id="rId11"/>
    <p:sldId id="375" r:id="rId12"/>
    <p:sldId id="410" r:id="rId13"/>
    <p:sldId id="343" r:id="rId14"/>
    <p:sldId id="411" r:id="rId15"/>
    <p:sldId id="354" r:id="rId16"/>
    <p:sldId id="393" r:id="rId17"/>
  </p:sldIdLst>
  <p:sldSz cx="12192000" cy="6858000"/>
  <p:notesSz cx="6858000" cy="9144000"/>
  <p:embeddedFontLst>
    <p:embeddedFont>
      <p:font typeface="Inter" panose="02000503000000020004" charset="0"/>
      <p:regular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B2FA"/>
    <a:srgbClr val="54FDED"/>
    <a:srgbClr val="4DDBF8"/>
    <a:srgbClr val="4AC7F9"/>
    <a:srgbClr val="54A6FB"/>
    <a:srgbClr val="4589FB"/>
    <a:srgbClr val="4675FC"/>
    <a:srgbClr val="4EE4F0"/>
    <a:srgbClr val="49CCF3"/>
    <a:srgbClr val="44B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247.xml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150.xml"/><Relationship Id="rId26" Type="http://schemas.openxmlformats.org/officeDocument/2006/relationships/tags" Target="../tags/tag149.xml"/><Relationship Id="rId25" Type="http://schemas.openxmlformats.org/officeDocument/2006/relationships/tags" Target="../tags/tag148.xml"/><Relationship Id="rId24" Type="http://schemas.openxmlformats.org/officeDocument/2006/relationships/tags" Target="../tags/tag147.xml"/><Relationship Id="rId23" Type="http://schemas.openxmlformats.org/officeDocument/2006/relationships/tags" Target="../tags/tag146.xml"/><Relationship Id="rId22" Type="http://schemas.openxmlformats.org/officeDocument/2006/relationships/tags" Target="../tags/tag145.xml"/><Relationship Id="rId21" Type="http://schemas.openxmlformats.org/officeDocument/2006/relationships/tags" Target="../tags/tag144.xml"/><Relationship Id="rId20" Type="http://schemas.openxmlformats.org/officeDocument/2006/relationships/tags" Target="../tags/tag143.xml"/><Relationship Id="rId2" Type="http://schemas.openxmlformats.org/officeDocument/2006/relationships/tags" Target="../tags/tag125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13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220.xml"/><Relationship Id="rId10" Type="http://schemas.openxmlformats.org/officeDocument/2006/relationships/image" Target="../media/image16.sv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9" Type="http://schemas.openxmlformats.org/officeDocument/2006/relationships/notesSlide" Target="../notesSlides/notesSlide13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246.xml"/><Relationship Id="rId26" Type="http://schemas.openxmlformats.org/officeDocument/2006/relationships/tags" Target="../tags/tag245.xml"/><Relationship Id="rId25" Type="http://schemas.openxmlformats.org/officeDocument/2006/relationships/tags" Target="../tags/tag244.xml"/><Relationship Id="rId24" Type="http://schemas.openxmlformats.org/officeDocument/2006/relationships/tags" Target="../tags/tag243.xml"/><Relationship Id="rId23" Type="http://schemas.openxmlformats.org/officeDocument/2006/relationships/tags" Target="../tags/tag242.xml"/><Relationship Id="rId22" Type="http://schemas.openxmlformats.org/officeDocument/2006/relationships/tags" Target="../tags/tag241.xml"/><Relationship Id="rId21" Type="http://schemas.openxmlformats.org/officeDocument/2006/relationships/tags" Target="../tags/tag240.xml"/><Relationship Id="rId20" Type="http://schemas.openxmlformats.org/officeDocument/2006/relationships/tags" Target="../tags/tag239.xml"/><Relationship Id="rId2" Type="http://schemas.openxmlformats.org/officeDocument/2006/relationships/tags" Target="../tags/tag221.xml"/><Relationship Id="rId19" Type="http://schemas.openxmlformats.org/officeDocument/2006/relationships/tags" Target="../tags/tag238.xml"/><Relationship Id="rId18" Type="http://schemas.openxmlformats.org/officeDocument/2006/relationships/tags" Target="../tags/tag237.xml"/><Relationship Id="rId17" Type="http://schemas.openxmlformats.org/officeDocument/2006/relationships/tags" Target="../tags/tag236.xml"/><Relationship Id="rId16" Type="http://schemas.openxmlformats.org/officeDocument/2006/relationships/tags" Target="../tags/tag235.xml"/><Relationship Id="rId15" Type="http://schemas.openxmlformats.org/officeDocument/2006/relationships/tags" Target="../tags/tag234.xml"/><Relationship Id="rId14" Type="http://schemas.openxmlformats.org/officeDocument/2006/relationships/tags" Target="../tags/tag233.xml"/><Relationship Id="rId13" Type="http://schemas.openxmlformats.org/officeDocument/2006/relationships/tags" Target="../tags/tag232.xml"/><Relationship Id="rId12" Type="http://schemas.openxmlformats.org/officeDocument/2006/relationships/tags" Target="../tags/tag231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393633" y="2802890"/>
            <a:ext cx="736536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6000">
                <a:ln>
                  <a:noFill/>
                </a:ln>
                <a:solidFill>
                  <a:srgbClr val="47B2FA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Phân tích Hiệu suất B</a:t>
            </a:r>
            <a:r>
              <a:rPr lang="vi-VN" altLang="en-US" sz="6000">
                <a:ln>
                  <a:noFill/>
                </a:ln>
                <a:solidFill>
                  <a:srgbClr val="47B2FA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á</a:t>
            </a:r>
            <a:r>
              <a:rPr lang="en-US" altLang="en-US" sz="6000">
                <a:ln>
                  <a:noFill/>
                </a:ln>
                <a:solidFill>
                  <a:srgbClr val="47B2FA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n hàng Olist</a:t>
            </a:r>
            <a:endParaRPr lang="en-US" altLang="en-US" sz="6000">
              <a:ln>
                <a:noFill/>
              </a:ln>
              <a:solidFill>
                <a:srgbClr val="47B2FA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377440" y="1751965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6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Hệ thống Dashboard </a:t>
            </a:r>
            <a:endParaRPr lang="en-US" altLang="en-US" sz="6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455621" y="46528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629150" y="4827270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4476750" y="4907598"/>
            <a:ext cx="3238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Reporter: </a:t>
            </a:r>
            <a:r>
              <a:rPr lang="vi-V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Nguyen </a:t>
            </a:r>
            <a:r>
              <a:rPr lang="vi-VN" altLang="en-US" sz="2000" dirty="0">
                <a:solidFill>
                  <a:schemeClr val="lt2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Trung</a:t>
            </a:r>
            <a:endParaRPr lang="vi-VN" altLang="en-US" sz="2000" dirty="0">
              <a:solidFill>
                <a:schemeClr val="lt2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6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9455" y="680720"/>
            <a:ext cx="2407920" cy="501650"/>
            <a:chOff x="1133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7"/>
              </p:custDataLst>
            </p:nvPr>
          </p:nvSpPr>
          <p:spPr>
            <a:xfrm>
              <a:off x="1403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8"/>
              </p:custDataLst>
            </p:nvPr>
          </p:nvSpPr>
          <p:spPr>
            <a:xfrm>
              <a:off x="1133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5" name="任意多边形: 形状 21"/>
          <p:cNvSpPr/>
          <p:nvPr>
            <p:custDataLst>
              <p:tags r:id="rId9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10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2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4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5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6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7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9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22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55" name="半闭框 54"/>
          <p:cNvSpPr/>
          <p:nvPr/>
        </p:nvSpPr>
        <p:spPr>
          <a:xfrm rot="10800000" flipH="1" flipV="1">
            <a:off x="4577154" y="47769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7279714" y="509956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3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4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5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6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2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7825" y="1706880"/>
            <a:ext cx="3560445" cy="1859915"/>
            <a:chOff x="1182" y="2068"/>
            <a:chExt cx="5607" cy="2929"/>
          </a:xfrm>
        </p:grpSpPr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 flipH="1">
              <a:off x="2248" y="2068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01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82" y="3211"/>
              <a:ext cx="5607" cy="1207"/>
              <a:chOff x="1279" y="3137"/>
              <a:chExt cx="5607" cy="1299"/>
            </a:xfrm>
          </p:grpSpPr>
          <p:sp>
            <p:nvSpPr>
              <p:cNvPr id="64" name="平行四边形 63"/>
              <p:cNvSpPr/>
              <p:nvPr>
                <p:custDataLst>
                  <p:tags r:id="rId4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63" name="平行四边形 62"/>
              <p:cNvSpPr/>
              <p:nvPr>
                <p:custDataLst>
                  <p:tags r:id="rId5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 flipH="1">
              <a:off x="2052" y="3496"/>
              <a:ext cx="3927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" altLang="en-US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Đ</a:t>
              </a:r>
              <a:r>
                <a:rPr lang="en-US" altLang="en-US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ặt vấn </a:t>
              </a:r>
              <a:r>
                <a:rPr lang="" altLang="en-US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đ</a:t>
              </a:r>
              <a:r>
                <a:rPr lang="en-US" altLang="en-US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ề &amp; Mục tiêu</a:t>
              </a:r>
              <a:endParaRPr lang="en-US" altLang="en-US" sz="28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6"/>
            </p:custDataLst>
          </p:nvPr>
        </p:nvSpPr>
        <p:spPr>
          <a:xfrm>
            <a:off x="4150995" y="493395"/>
            <a:ext cx="3890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CONTENTS</a:t>
            </a:r>
            <a:endParaRPr lang="en-US" altLang="zh-CN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 flipH="1">
            <a:off x="4992370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02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>
            <a:off x="4315460" y="2432685"/>
            <a:ext cx="3560445" cy="766445"/>
            <a:chOff x="1279" y="3137"/>
            <a:chExt cx="5607" cy="1299"/>
          </a:xfrm>
        </p:grpSpPr>
        <p:sp>
          <p:nvSpPr>
            <p:cNvPr id="13" name="平行四边形 12"/>
            <p:cNvSpPr/>
            <p:nvPr>
              <p:custDataLst>
                <p:tags r:id="rId8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>
              <p:custDataLst>
                <p:tags r:id="rId9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 flipH="1">
            <a:off x="4930140" y="2571115"/>
            <a:ext cx="2493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 i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Công nghệ sử dụng</a:t>
            </a:r>
            <a:endParaRPr lang="en-US" altLang="en-US" sz="2800" i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 flipH="1">
            <a:off x="8930005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 rot="0">
            <a:off x="8253095" y="2432685"/>
            <a:ext cx="3560445" cy="766445"/>
            <a:chOff x="1279" y="3137"/>
            <a:chExt cx="5607" cy="1299"/>
          </a:xfrm>
        </p:grpSpPr>
        <p:sp>
          <p:nvSpPr>
            <p:cNvPr id="19" name="平行四边形 18"/>
            <p:cNvSpPr/>
            <p:nvPr>
              <p:custDataLst>
                <p:tags r:id="rId11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0" name="平行四边形 19"/>
            <p:cNvSpPr/>
            <p:nvPr>
              <p:custDataLst>
                <p:tags r:id="rId12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 flipH="1">
            <a:off x="8867775" y="2571115"/>
            <a:ext cx="2493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Tính n</a:t>
            </a:r>
            <a:r>
              <a:rPr lang="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ă</a:t>
            </a:r>
            <a:r>
              <a:rPr lang="en-US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ng cốt l</a:t>
            </a:r>
            <a:r>
              <a:rPr lang="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õ</a:t>
            </a:r>
            <a:r>
              <a:rPr lang="en-US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i</a:t>
            </a:r>
            <a:endParaRPr lang="en-US" altLang="en-US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45005" y="4082415"/>
            <a:ext cx="3559810" cy="1816735"/>
            <a:chOff x="1803" y="6545"/>
            <a:chExt cx="5606" cy="2861"/>
          </a:xfrm>
        </p:grpSpPr>
        <p:sp>
          <p:nvSpPr>
            <p:cNvPr id="23" name="文本框 22"/>
            <p:cNvSpPr txBox="1"/>
            <p:nvPr>
              <p:custDataLst>
                <p:tags r:id="rId13"/>
              </p:custDataLst>
            </p:nvPr>
          </p:nvSpPr>
          <p:spPr>
            <a:xfrm flipH="1">
              <a:off x="2869" y="6545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04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 rot="0">
              <a:off x="1803" y="7688"/>
              <a:ext cx="5607" cy="1207"/>
              <a:chOff x="1279" y="3137"/>
              <a:chExt cx="5607" cy="1299"/>
            </a:xfrm>
          </p:grpSpPr>
          <p:sp>
            <p:nvSpPr>
              <p:cNvPr id="25" name="平行四边形 24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26" name="平行四边形 25"/>
              <p:cNvSpPr/>
              <p:nvPr>
                <p:custDataLst>
                  <p:tags r:id="rId15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 flipH="1">
              <a:off x="2771" y="7906"/>
              <a:ext cx="3927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Hệ thống biểu </a:t>
              </a:r>
              <a:r>
                <a:rPr lang="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đ</a:t>
              </a:r>
              <a:r>
                <a:rPr lang="en-US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ồ</a:t>
              </a:r>
              <a:endParaRPr lang="en-US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234430" y="3997325"/>
            <a:ext cx="3938270" cy="1816735"/>
            <a:chOff x="6796" y="6268"/>
            <a:chExt cx="6202" cy="2861"/>
          </a:xfrm>
        </p:grpSpPr>
        <p:sp>
          <p:nvSpPr>
            <p:cNvPr id="29" name="文本框 28"/>
            <p:cNvSpPr txBox="1"/>
            <p:nvPr>
              <p:custDataLst>
                <p:tags r:id="rId16"/>
              </p:custDataLst>
            </p:nvPr>
          </p:nvSpPr>
          <p:spPr>
            <a:xfrm flipH="1">
              <a:off x="7862" y="6268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05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 rot="0">
              <a:off x="6796" y="7411"/>
              <a:ext cx="6202" cy="1207"/>
              <a:chOff x="1279" y="3137"/>
              <a:chExt cx="5607" cy="1299"/>
            </a:xfrm>
          </p:grpSpPr>
          <p:sp>
            <p:nvSpPr>
              <p:cNvPr id="31" name="平行四边形 30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8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 flipH="1">
              <a:off x="7764" y="7629"/>
              <a:ext cx="4640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Kết luận &amp; H</a:t>
              </a:r>
              <a:r>
                <a:rPr lang="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ư</a:t>
              </a:r>
              <a:r>
                <a:rPr lang="en-US" altLang="en-US" sz="2800" i="1">
                  <a:ln>
                    <a:noFill/>
                  </a:ln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ớng phát triển</a:t>
              </a:r>
              <a:endParaRPr lang="en-US" altLang="en-US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01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  <p:sp>
        <p:nvSpPr>
          <p:cNvPr id="2" name="Text Box 1"/>
          <p:cNvSpPr txBox="1"/>
          <p:nvPr/>
        </p:nvSpPr>
        <p:spPr>
          <a:xfrm>
            <a:off x="5140325" y="2733040"/>
            <a:ext cx="41313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Đặt vấn đề &amp; Mục tiêu</a:t>
            </a:r>
            <a:endParaRPr lang="en-US" altLang="en-US" sz="4000" i="1" dirty="0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Đặt vấn đề &amp; Mục tiêu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cxnSp>
        <p:nvCxnSpPr>
          <p:cNvPr id="44" name="Straight Connector 21"/>
          <p:cNvCxnSpPr/>
          <p:nvPr/>
        </p:nvCxnSpPr>
        <p:spPr>
          <a:xfrm>
            <a:off x="2061210" y="3800475"/>
            <a:ext cx="7741285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25"/>
          <p:cNvSpPr txBox="1"/>
          <p:nvPr/>
        </p:nvSpPr>
        <p:spPr>
          <a:xfrm>
            <a:off x="1162050" y="4207510"/>
            <a:ext cx="4768215" cy="14763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  <a:buClr>
                <a:srgbClr val="E24848"/>
              </a:buClr>
            </a:pP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Dữ liệu TM</a:t>
            </a:r>
            <a:r>
              <a:rPr lang="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 Olist (Brazil) quá lớn, quản l</a:t>
            </a:r>
            <a:r>
              <a:rPr lang="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ý 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khó theo d</a:t>
            </a:r>
            <a:r>
              <a:rPr lang="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õ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i doanh thu và trạng thái </a:t>
            </a:r>
            <a:r>
              <a:rPr lang="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ơn hàng theo thời gian thực.</a:t>
            </a:r>
            <a:endParaRPr lang="en-US" altLang="en-US" sz="20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7" name="Oval 9"/>
          <p:cNvSpPr/>
          <p:nvPr/>
        </p:nvSpPr>
        <p:spPr>
          <a:xfrm>
            <a:off x="3397250" y="3653155"/>
            <a:ext cx="273685" cy="2736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28" name="平行四边形 27"/>
          <p:cNvSpPr/>
          <p:nvPr>
            <p:custDataLst>
              <p:tags r:id="rId3"/>
            </p:custDataLst>
          </p:nvPr>
        </p:nvSpPr>
        <p:spPr>
          <a:xfrm rot="10800000">
            <a:off x="7646035" y="1574165"/>
            <a:ext cx="1443355" cy="51752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cxnSp>
        <p:nvCxnSpPr>
          <p:cNvPr id="26" name="Straight Connector 35"/>
          <p:cNvCxnSpPr/>
          <p:nvPr/>
        </p:nvCxnSpPr>
        <p:spPr>
          <a:xfrm>
            <a:off x="8331835" y="2077085"/>
            <a:ext cx="0" cy="181737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5"/>
          <p:cNvSpPr txBox="1"/>
          <p:nvPr/>
        </p:nvSpPr>
        <p:spPr>
          <a:xfrm>
            <a:off x="7736840" y="1530985"/>
            <a:ext cx="1190625" cy="5067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</a:pPr>
            <a:r>
              <a:rPr dirty="0">
                <a:solidFill>
                  <a:schemeClr val="bg2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Topic</a:t>
            </a:r>
            <a:endParaRPr dirty="0">
              <a:solidFill>
                <a:schemeClr val="bg2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50" name="Oval 12"/>
          <p:cNvSpPr/>
          <p:nvPr/>
        </p:nvSpPr>
        <p:spPr>
          <a:xfrm>
            <a:off x="8183245" y="3695700"/>
            <a:ext cx="273685" cy="2736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cs typeface="Inter" panose="02000503000000020004" charset="0"/>
            </a:endParaRPr>
          </a:p>
        </p:txBody>
      </p:sp>
      <p:sp>
        <p:nvSpPr>
          <p:cNvPr id="55" name="TextBox 25"/>
          <p:cNvSpPr txBox="1"/>
          <p:nvPr/>
        </p:nvSpPr>
        <p:spPr>
          <a:xfrm>
            <a:off x="6165850" y="4207510"/>
            <a:ext cx="4411980" cy="147637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p>
            <a:pPr algn="ctr">
              <a:lnSpc>
                <a:spcPct val="150000"/>
              </a:lnSpc>
              <a:buClr>
                <a:srgbClr val="E24848"/>
              </a:buClr>
              <a:buSzTx/>
              <a:buFontTx/>
            </a:pPr>
            <a:r>
              <a:rPr lang="en-US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Xây dựng Dashboard trực quan, t</a:t>
            </a:r>
            <a:r>
              <a:rPr lang="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ư</a:t>
            </a:r>
            <a:r>
              <a:rPr lang="en-US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ơng tác </a:t>
            </a:r>
            <a:r>
              <a:rPr lang="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ộng </a:t>
            </a:r>
            <a:r>
              <a:rPr lang="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ể hỗ trợ ra quyết </a:t>
            </a:r>
            <a:r>
              <a:rPr lang="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ịnh kinh doanh nhanh chóng.</a:t>
            </a:r>
            <a:endParaRPr lang="en-US" altLang="en-US" sz="20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797175" y="2286000"/>
            <a:ext cx="1442085" cy="1565275"/>
            <a:chOff x="2224" y="3599"/>
            <a:chExt cx="2271" cy="2465"/>
          </a:xfrm>
        </p:grpSpPr>
        <p:sp>
          <p:nvSpPr>
            <p:cNvPr id="7" name="平行四边形 6"/>
            <p:cNvSpPr/>
            <p:nvPr>
              <p:custDataLst>
                <p:tags r:id="rId4"/>
              </p:custDataLst>
            </p:nvPr>
          </p:nvSpPr>
          <p:spPr>
            <a:xfrm rot="10800000">
              <a:off x="2224" y="3679"/>
              <a:ext cx="2271" cy="804"/>
            </a:xfrm>
            <a:prstGeom prst="parallelogram">
              <a:avLst>
                <a:gd name="adj" fmla="val 68862"/>
              </a:avLst>
            </a:prstGeom>
            <a:solidFill>
              <a:schemeClr val="accent3">
                <a:alpha val="15000"/>
              </a:schemeClr>
            </a:solidFill>
            <a:ln w="38100">
              <a:gradFill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61" name="Straight Connector 34"/>
            <p:cNvCxnSpPr/>
            <p:nvPr/>
          </p:nvCxnSpPr>
          <p:spPr>
            <a:xfrm>
              <a:off x="3368" y="4546"/>
              <a:ext cx="0" cy="1518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25"/>
            <p:cNvSpPr txBox="1"/>
            <p:nvPr/>
          </p:nvSpPr>
          <p:spPr>
            <a:xfrm>
              <a:off x="2422" y="3599"/>
              <a:ext cx="1875" cy="79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en-US" dirty="0">
                  <a:solidFill>
                    <a:schemeClr val="bg2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</a:rPr>
                <a:t>Bài toán</a:t>
              </a:r>
              <a:endParaRPr lang="en-US" altLang="en-US" dirty="0">
                <a:solidFill>
                  <a:schemeClr val="bg2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772" y="3998"/>
                <a:ext cx="7123" cy="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5600" i="1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Công nghệ sử dụng</a:t>
                </a:r>
                <a:endParaRPr lang="en-US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02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41" name="平行四边形 40"/>
          <p:cNvSpPr/>
          <p:nvPr>
            <p:custDataLst>
              <p:tags r:id="rId2"/>
            </p:custDataLst>
          </p:nvPr>
        </p:nvSpPr>
        <p:spPr>
          <a:xfrm rot="10800000" flipH="1">
            <a:off x="964565" y="1156018"/>
            <a:ext cx="10328275" cy="498602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i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Công nghệ sử dụng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80933" y="2016761"/>
            <a:ext cx="7750175" cy="3282950"/>
            <a:chOff x="1501" y="3389"/>
            <a:chExt cx="12205" cy="5170"/>
          </a:xfrm>
        </p:grpSpPr>
        <p:sp>
          <p:nvSpPr>
            <p:cNvPr id="9" name="矩形 47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655" y="4193"/>
              <a:ext cx="3112" cy="188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 compatLnSpc="0">
              <a:spAutoFit/>
            </a:bodyPr>
            <a:p>
              <a:pPr lvl="0" algn="l">
                <a:lnSpc>
                  <a:spcPct val="15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60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Python, Flask API, Pandas (Xử lý dữ liệu).</a:t>
              </a:r>
              <a:endParaRPr lang="en-US" altLang="en-US" sz="1600" dirty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1501" y="3402"/>
              <a:ext cx="286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en-US" sz="20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Backend:</a:t>
              </a:r>
              <a:endParaRPr lang="en-US" altLang="en-US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1671" y="4224"/>
              <a:ext cx="0" cy="37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1590" y="5992"/>
              <a:ext cx="2860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00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1</a:t>
              </a:r>
              <a:endParaRPr lang="en-US" altLang="zh-CN" sz="10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16" name="矩形 4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49" y="4191"/>
              <a:ext cx="3112" cy="91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 compatLnSpc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en-US" sz="160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SQLite3 (Truy vấn dữ liệu qua SQL).</a:t>
              </a:r>
              <a:endParaRPr lang="en-US" altLang="en-US" sz="1600" dirty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5795" y="3400"/>
              <a:ext cx="286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en-US" sz="2000">
                  <a:solidFill>
                    <a:schemeClr val="accen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Database </a:t>
              </a:r>
              <a:endParaRPr lang="en-US" altLang="en-US" sz="20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 flipV="1">
              <a:off x="5965" y="4222"/>
              <a:ext cx="0" cy="37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>
              <p:custDataLst>
                <p:tags r:id="rId9"/>
              </p:custDataLst>
            </p:nvPr>
          </p:nvSpPr>
          <p:spPr>
            <a:xfrm>
              <a:off x="5884" y="5990"/>
              <a:ext cx="2860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0000">
                  <a:solidFill>
                    <a:schemeClr val="accen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2</a:t>
              </a:r>
              <a:endParaRPr lang="en-US" altLang="zh-CN" sz="10000">
                <a:solidFill>
                  <a:schemeClr val="accen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21" name="矩形 4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193" y="4180"/>
              <a:ext cx="3513" cy="167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 anchorCtr="0" compatLnSpc="0">
              <a:spAutoFit/>
            </a:bodyPr>
            <a:p>
              <a:pPr lvl="0" algn="l">
                <a:lnSpc>
                  <a:spcPct val="150000"/>
                </a:lnSpc>
                <a:spcAft>
                  <a:spcPts val="1000"/>
                </a:spcAft>
                <a:buClrTx/>
                <a:buSzTx/>
                <a:buFontTx/>
                <a:defRPr/>
              </a:pPr>
              <a:r>
                <a:rPr lang="en-US" altLang="en-US" sz="1400" b="1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HTML5, CSS3 (Dark Theme), Plotly.js (Dựng biểu đồ tương tác).</a:t>
              </a:r>
              <a:endParaRPr lang="en-US" altLang="en-US" sz="1400" b="1" dirty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10039" y="3389"/>
              <a:ext cx="1886" cy="628"/>
            </a:xfrm>
            <a:prstGeom prst="rect">
              <a:avLst/>
            </a:prstGeom>
            <a:noFill/>
          </p:spPr>
          <p:txBody>
            <a:bodyPr wrap="none" bIns="45720" rtlCol="0" anchor="t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en-US" sz="20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Frontend</a:t>
              </a:r>
              <a:endParaRPr lang="vi-VN" altLang="en-US" sz="2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V="1">
              <a:off x="10209" y="4211"/>
              <a:ext cx="0" cy="3787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>
              <p:custDataLst>
                <p:tags r:id="rId12"/>
              </p:custDataLst>
            </p:nvPr>
          </p:nvSpPr>
          <p:spPr>
            <a:xfrm>
              <a:off x="10128" y="5979"/>
              <a:ext cx="2860" cy="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0000">
                  <a:solidFill>
                    <a:schemeClr val="accent6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  <a:sym typeface="+mn-ea"/>
                </a:rPr>
                <a:t>3</a:t>
              </a:r>
              <a:endParaRPr lang="en-US" altLang="zh-CN" sz="100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endParaRPr>
            </a:p>
          </p:txBody>
        </p:sp>
      </p:grpSp>
    </p:spTree>
    <p:custDataLst>
      <p:tags r:id="rId1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8034" y="4071"/>
                <a:ext cx="6169" cy="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5600" i="1">
                    <a:ln>
                      <a:noFill/>
                    </a:ln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Tính năng cốt lõi</a:t>
                </a:r>
                <a:endParaRPr lang="zh-CN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03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9" name="平行四边形 8"/>
          <p:cNvSpPr/>
          <p:nvPr>
            <p:custDataLst>
              <p:tags r:id="rId2"/>
            </p:custDataLst>
          </p:nvPr>
        </p:nvSpPr>
        <p:spPr>
          <a:xfrm rot="10800000" flipH="1">
            <a:off x="438785" y="4093845"/>
            <a:ext cx="4704715" cy="1582420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6" name="平行四边形 15"/>
          <p:cNvSpPr/>
          <p:nvPr>
            <p:custDataLst>
              <p:tags r:id="rId3"/>
            </p:custDataLst>
          </p:nvPr>
        </p:nvSpPr>
        <p:spPr>
          <a:xfrm rot="10800000">
            <a:off x="6965950" y="4115435"/>
            <a:ext cx="4772025" cy="1582420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" name="平行四边形 1"/>
          <p:cNvSpPr/>
          <p:nvPr>
            <p:custDataLst>
              <p:tags r:id="rId4"/>
            </p:custDataLst>
          </p:nvPr>
        </p:nvSpPr>
        <p:spPr>
          <a:xfrm rot="10800000">
            <a:off x="560705" y="1636395"/>
            <a:ext cx="4470400" cy="1864360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7" name="平行四边形 6"/>
          <p:cNvSpPr/>
          <p:nvPr>
            <p:custDataLst>
              <p:tags r:id="rId5"/>
            </p:custDataLst>
          </p:nvPr>
        </p:nvSpPr>
        <p:spPr>
          <a:xfrm rot="10800000" flipH="1">
            <a:off x="7110730" y="1636395"/>
            <a:ext cx="4470400" cy="1582420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6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Tính năng cốt lõi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 rot="1020000">
            <a:off x="4249420" y="1750060"/>
            <a:ext cx="3622040" cy="3622040"/>
          </a:xfrm>
          <a:prstGeom prst="ellipse">
            <a:avLst/>
          </a:prstGeom>
          <a:noFill/>
          <a:ln w="95250">
            <a:gradFill>
              <a:gsLst>
                <a:gs pos="73000">
                  <a:schemeClr val="accent6">
                    <a:alpha val="0"/>
                  </a:schemeClr>
                </a:gs>
                <a:gs pos="35000">
                  <a:schemeClr val="accent1"/>
                </a:gs>
                <a:gs pos="100000">
                  <a:schemeClr val="accent1"/>
                </a:gs>
                <a:gs pos="1000">
                  <a:schemeClr val="accent6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cs typeface="Inter Black" panose="02000503000000020004" charset="0"/>
            </a:endParaRPr>
          </a:p>
        </p:txBody>
      </p:sp>
      <p:sp>
        <p:nvSpPr>
          <p:cNvPr id="38" name="椭圆 37"/>
          <p:cNvSpPr/>
          <p:nvPr/>
        </p:nvSpPr>
        <p:spPr>
          <a:xfrm rot="10800000">
            <a:off x="4471035" y="1973580"/>
            <a:ext cx="3175000" cy="3175000"/>
          </a:xfrm>
          <a:prstGeom prst="ellipse">
            <a:avLst/>
          </a:prstGeom>
          <a:noFill/>
          <a:ln w="76200">
            <a:gradFill>
              <a:gsLst>
                <a:gs pos="39000">
                  <a:schemeClr val="accent1"/>
                </a:gs>
                <a:gs pos="0">
                  <a:schemeClr val="accent6">
                    <a:alpha val="0"/>
                  </a:schemeClr>
                </a:gs>
                <a:gs pos="100000">
                  <a:schemeClr val="accent1"/>
                </a:gs>
                <a:gs pos="72000">
                  <a:schemeClr val="accent6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cs typeface="Inter Black" panose="02000503000000020004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019675" y="2506980"/>
            <a:ext cx="2078355" cy="2011680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85000">
                <a:schemeClr val="accent1"/>
              </a:gs>
            </a:gsLst>
            <a:lin ang="2700000" scaled="0"/>
          </a:gra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3200" dirty="0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TOPIC</a:t>
            </a:r>
            <a:endParaRPr lang="zh-CN" altLang="en-US" sz="3200" dirty="0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grpSp>
        <p:nvGrpSpPr>
          <p:cNvPr id="36" name="组合 35"/>
          <p:cNvGrpSpPr/>
          <p:nvPr/>
        </p:nvGrpSpPr>
        <p:grpSpPr>
          <a:xfrm rot="0">
            <a:off x="4625340" y="2202815"/>
            <a:ext cx="2805430" cy="2716530"/>
            <a:chOff x="3907790" y="2007432"/>
            <a:chExt cx="3854131" cy="3627565"/>
          </a:xfrm>
        </p:grpSpPr>
        <p:sp>
          <p:nvSpPr>
            <p:cNvPr id="46" name="2"/>
            <p:cNvSpPr/>
            <p:nvPr/>
          </p:nvSpPr>
          <p:spPr>
            <a:xfrm flipH="1" flipV="1">
              <a:off x="3984739" y="2007432"/>
              <a:ext cx="3777182" cy="3627565"/>
            </a:xfrm>
            <a:prstGeom prst="blockArc">
              <a:avLst>
                <a:gd name="adj1" fmla="val 34484"/>
                <a:gd name="adj2" fmla="val 10794548"/>
                <a:gd name="adj3" fmla="val 922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3000">
                  <a:schemeClr val="accent3">
                    <a:lumMod val="40000"/>
                    <a:lumOff val="60000"/>
                  </a:schemeClr>
                </a:gs>
                <a:gs pos="85000">
                  <a:schemeClr val="accent1">
                    <a:lumMod val="40000"/>
                    <a:lumOff val="6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  <p:sp>
          <p:nvSpPr>
            <p:cNvPr id="63" name="1"/>
            <p:cNvSpPr/>
            <p:nvPr/>
          </p:nvSpPr>
          <p:spPr>
            <a:xfrm flipH="1" flipV="1">
              <a:off x="3907790" y="3739621"/>
              <a:ext cx="197107" cy="16319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10800000">
            <a:off x="4688840" y="2202815"/>
            <a:ext cx="2805430" cy="2716530"/>
            <a:chOff x="3907790" y="2007432"/>
            <a:chExt cx="3854130" cy="3627565"/>
          </a:xfr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53000">
                <a:schemeClr val="accent3">
                  <a:lumMod val="40000"/>
                  <a:lumOff val="60000"/>
                </a:schemeClr>
              </a:gs>
              <a:gs pos="26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</p:grpSpPr>
        <p:sp>
          <p:nvSpPr>
            <p:cNvPr id="49" name="2"/>
            <p:cNvSpPr/>
            <p:nvPr/>
          </p:nvSpPr>
          <p:spPr>
            <a:xfrm flipH="1" flipV="1">
              <a:off x="3984738" y="2007432"/>
              <a:ext cx="3777182" cy="3627565"/>
            </a:xfrm>
            <a:prstGeom prst="blockArc">
              <a:avLst>
                <a:gd name="adj1" fmla="val 34484"/>
                <a:gd name="adj2" fmla="val 10794548"/>
                <a:gd name="adj3" fmla="val 9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  <p:sp>
          <p:nvSpPr>
            <p:cNvPr id="50" name="1"/>
            <p:cNvSpPr/>
            <p:nvPr/>
          </p:nvSpPr>
          <p:spPr>
            <a:xfrm flipH="1" flipV="1">
              <a:off x="3907790" y="3739621"/>
              <a:ext cx="197107" cy="1631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ea typeface="Inter Black" panose="02000503000000020004" charset="0"/>
                <a:cs typeface="Inter Black" panose="02000503000000020004" charset="0"/>
                <a:sym typeface="+mn-lt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 rot="0">
            <a:off x="2190750" y="2086610"/>
            <a:ext cx="2068830" cy="180975"/>
            <a:chOff x="2479361" y="2183606"/>
            <a:chExt cx="2068827" cy="180975"/>
          </a:xfrm>
        </p:grpSpPr>
        <p:cxnSp>
          <p:nvCxnSpPr>
            <p:cNvPr id="65" name="直接连接符 64"/>
            <p:cNvCxnSpPr/>
            <p:nvPr/>
          </p:nvCxnSpPr>
          <p:spPr>
            <a:xfrm flipH="1" flipV="1">
              <a:off x="4367213" y="2183606"/>
              <a:ext cx="180975" cy="180975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2479361" y="2184400"/>
              <a:ext cx="1889439" cy="0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7" name="Rectangle 46"/>
          <p:cNvSpPr txBox="1"/>
          <p:nvPr/>
        </p:nvSpPr>
        <p:spPr>
          <a:xfrm>
            <a:off x="1894205" y="1688465"/>
            <a:ext cx="275526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KPIs</a:t>
            </a:r>
            <a:endParaRPr lang="en-US" altLang="en-US" sz="2000" spc="300" dirty="0" smtClean="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69" name="组合 68"/>
          <p:cNvGrpSpPr/>
          <p:nvPr/>
        </p:nvGrpSpPr>
        <p:grpSpPr>
          <a:xfrm rot="0">
            <a:off x="2082800" y="4520565"/>
            <a:ext cx="2068830" cy="180975"/>
            <a:chOff x="2479361" y="2003425"/>
            <a:chExt cx="2068827" cy="180975"/>
          </a:xfrm>
        </p:grpSpPr>
        <p:cxnSp>
          <p:nvCxnSpPr>
            <p:cNvPr id="52" name="直接连接符 51"/>
            <p:cNvCxnSpPr/>
            <p:nvPr/>
          </p:nvCxnSpPr>
          <p:spPr>
            <a:xfrm flipH="1">
              <a:off x="4367213" y="2003425"/>
              <a:ext cx="180975" cy="180975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>
              <a:off x="2479361" y="2184400"/>
              <a:ext cx="1889439" cy="0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Rectangle 46"/>
          <p:cNvSpPr txBox="1"/>
          <p:nvPr/>
        </p:nvSpPr>
        <p:spPr>
          <a:xfrm>
            <a:off x="1543050" y="4149090"/>
            <a:ext cx="338709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Tính n</a:t>
            </a:r>
            <a:r>
              <a:rPr lang="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ă</a:t>
            </a:r>
            <a:r>
              <a:rPr lang="en-US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ng phụ</a:t>
            </a:r>
            <a:endParaRPr lang="vi-VN" altLang="en-US" sz="2000" spc="300" dirty="0" smtClean="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 rot="0" flipH="1">
            <a:off x="7852410" y="2258060"/>
            <a:ext cx="2068830" cy="180975"/>
            <a:chOff x="2479361" y="2183606"/>
            <a:chExt cx="2068827" cy="180975"/>
          </a:xfrm>
        </p:grpSpPr>
        <p:cxnSp>
          <p:nvCxnSpPr>
            <p:cNvPr id="75" name="直接连接符 74"/>
            <p:cNvCxnSpPr/>
            <p:nvPr/>
          </p:nvCxnSpPr>
          <p:spPr>
            <a:xfrm flipH="1" flipV="1">
              <a:off x="4367213" y="2183606"/>
              <a:ext cx="180975" cy="180975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 flipH="1">
              <a:off x="2479361" y="2184400"/>
              <a:ext cx="1889439" cy="0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7" name="Rectangle 46"/>
          <p:cNvSpPr txBox="1"/>
          <p:nvPr/>
        </p:nvSpPr>
        <p:spPr>
          <a:xfrm>
            <a:off x="8065770" y="1746250"/>
            <a:ext cx="268986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Bộ lọc </a:t>
            </a:r>
            <a:r>
              <a:rPr lang="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</a:t>
            </a:r>
            <a:r>
              <a:rPr lang="en-US" altLang="en-US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ộng</a:t>
            </a:r>
            <a:endParaRPr lang="en-US" altLang="en-US" sz="2000" spc="300" dirty="0" smtClean="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79" name="组合 78"/>
          <p:cNvGrpSpPr/>
          <p:nvPr/>
        </p:nvGrpSpPr>
        <p:grpSpPr>
          <a:xfrm rot="0" flipH="1">
            <a:off x="7960360" y="4520565"/>
            <a:ext cx="2068830" cy="180975"/>
            <a:chOff x="2479361" y="2003425"/>
            <a:chExt cx="2068827" cy="180975"/>
          </a:xfrm>
        </p:grpSpPr>
        <p:cxnSp>
          <p:nvCxnSpPr>
            <p:cNvPr id="80" name="直接连接符 79"/>
            <p:cNvCxnSpPr/>
            <p:nvPr/>
          </p:nvCxnSpPr>
          <p:spPr>
            <a:xfrm flipH="1">
              <a:off x="4367213" y="2003425"/>
              <a:ext cx="180975" cy="180975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2479361" y="2184400"/>
              <a:ext cx="1889439" cy="0"/>
            </a:xfrm>
            <a:prstGeom prst="line">
              <a:avLst/>
            </a:prstGeom>
            <a:noFill/>
            <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2" name="Rectangle 46"/>
          <p:cNvSpPr txBox="1"/>
          <p:nvPr/>
        </p:nvSpPr>
        <p:spPr>
          <a:xfrm>
            <a:off x="8065770" y="4149090"/>
            <a:ext cx="279463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lvl="0" algn="l">
              <a:buClrTx/>
              <a:buSzTx/>
              <a:buFontTx/>
            </a:pPr>
            <a:r>
              <a:rPr lang="vi-VN" altLang="zh-CN" sz="2000" spc="300" dirty="0" smtClean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...</a:t>
            </a:r>
            <a:endParaRPr lang="vi-VN" altLang="zh-CN" sz="2000" spc="300" dirty="0" smtClean="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5" name="矩形 4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23290" y="2202815"/>
            <a:ext cx="3054985" cy="1144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6" tIns="34283" rIns="68566" bIns="34283">
            <a:spAutoFit/>
          </a:bodyPr>
          <a:p>
            <a:pPr lvl="0" algn="r">
              <a:buClrTx/>
              <a:buSzTx/>
              <a:buFontTx/>
            </a:pPr>
            <a:r>
              <a:rPr lang="en-US" altLang="en-US" sz="1400" spc="300" dirty="0" smtClean="0"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Tổng doanh thu (Revenue), Đơn hàng (Orders), Khách hàng (Customers), Giá trị trung bình đơn (AOV).</a:t>
            </a:r>
            <a:endParaRPr lang="en-US" altLang="en-US" sz="1400" spc="300" dirty="0" smtClean="0"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6" name="矩形 4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263015" y="4813935"/>
            <a:ext cx="2888615" cy="713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6" tIns="34283" rIns="68566" bIns="34283">
            <a:spAutoFit/>
          </a:bodyPr>
          <a:p>
            <a:pPr lvl="0" algn="r">
              <a:buClrTx/>
              <a:buSzTx/>
              <a:buFontTx/>
            </a:pPr>
            <a:r>
              <a:rPr lang="en-US" altLang="en-US" sz="1400" spc="300" dirty="0" smtClean="0"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Export CSV trích xuất dữ liệu động theo bộ lọc.</a:t>
            </a:r>
            <a:endParaRPr lang="en-US" altLang="en-US" sz="1400" spc="300" dirty="0" smtClean="0"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7" name="矩形 4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206740" y="4697095"/>
            <a:ext cx="2888615" cy="746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6" tIns="34283" rIns="68566" bIns="34283">
            <a:spAutoFit/>
          </a:bodyPr>
          <a:p>
            <a:pPr algn="l">
              <a:lnSpc>
                <a:spcPct val="158000"/>
              </a:lnSpc>
              <a:buFont typeface="Inter Black" panose="02000503000000020004" charset="0"/>
              <a:buNone/>
            </a:pPr>
            <a:r>
              <a:rPr lang="vi-VN" altLang="zh-CN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+mn-ea"/>
                <a:sym typeface="Inter Black" panose="02000503000000020004" charset="0"/>
              </a:rPr>
              <a:t>...</a:t>
            </a:r>
            <a:endParaRPr lang="vi-VN" altLang="zh-CN" sz="14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+mn-ea"/>
              <a:sym typeface="Inter Black" panose="02000503000000020004" charset="0"/>
            </a:endParaRPr>
          </a:p>
          <a:p>
            <a:pPr algn="l">
              <a:lnSpc>
                <a:spcPct val="158000"/>
              </a:lnSpc>
              <a:buFont typeface="Inter Black" panose="02000503000000020004" charset="0"/>
              <a:buNone/>
            </a:pPr>
            <a:endParaRPr lang="vi-VN" altLang="zh-CN" sz="1400" dirty="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+mn-ea"/>
              <a:sym typeface="Inter Black" panose="02000503000000020004" charset="0"/>
            </a:endParaRPr>
          </a:p>
        </p:txBody>
      </p:sp>
      <p:sp>
        <p:nvSpPr>
          <p:cNvPr id="58" name="矩形 4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206740" y="2337435"/>
            <a:ext cx="2888615" cy="713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66" tIns="34283" rIns="68566" bIns="34283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400" spc="300" dirty="0" smtClean="0"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Đồng bộ thời gian thực theo Năm, Tháng, Bang, Danh mục, Trạng thái.</a:t>
            </a:r>
            <a:endParaRPr lang="en-US" altLang="en-US" sz="1400" spc="300" dirty="0" smtClean="0"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8004" y="4071"/>
                <a:ext cx="6169" cy="2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5600" i="1">
                    <a:ln>
                      <a:noFill/>
                    </a:ln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Hệ thống biểu đồ</a:t>
                </a:r>
                <a:endParaRPr lang="zh-CN" altLang="en-US" sz="56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4929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04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9" name="平行四边形 8"/>
          <p:cNvSpPr/>
          <p:nvPr>
            <p:custDataLst>
              <p:tags r:id="rId2"/>
            </p:custDataLst>
          </p:nvPr>
        </p:nvSpPr>
        <p:spPr>
          <a:xfrm rot="10800000" flipH="1">
            <a:off x="774065" y="1522095"/>
            <a:ext cx="10772775" cy="444119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Hệ thống biểu đồ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68930" y="1861820"/>
            <a:ext cx="6592570" cy="3627755"/>
            <a:chOff x="2706" y="3071"/>
            <a:chExt cx="10382" cy="5713"/>
          </a:xfrm>
        </p:grpSpPr>
        <p:grpSp>
          <p:nvGrpSpPr>
            <p:cNvPr id="26" name="กลุ่ม 12"/>
            <p:cNvGrpSpPr/>
            <p:nvPr/>
          </p:nvGrpSpPr>
          <p:grpSpPr>
            <a:xfrm rot="0">
              <a:off x="2706" y="3071"/>
              <a:ext cx="10182" cy="5713"/>
              <a:chOff x="3359466" y="3657600"/>
              <a:chExt cx="12930680" cy="7254875"/>
            </a:xfrm>
          </p:grpSpPr>
          <p:grpSp>
            <p:nvGrpSpPr>
              <p:cNvPr id="27" name="กลุ่ม 1"/>
              <p:cNvGrpSpPr/>
              <p:nvPr/>
            </p:nvGrpSpPr>
            <p:grpSpPr>
              <a:xfrm>
                <a:off x="3779837" y="3657600"/>
                <a:ext cx="12510309" cy="7254875"/>
                <a:chOff x="3816350" y="3870325"/>
                <a:chExt cx="12510309" cy="7254875"/>
              </a:xfrm>
            </p:grpSpPr>
            <p:sp>
              <p:nvSpPr>
                <p:cNvPr id="30" name="Freeform 6"/>
                <p:cNvSpPr>
                  <a:spLocks noEditPoints="1"/>
                </p:cNvSpPr>
                <p:nvPr/>
              </p:nvSpPr>
              <p:spPr bwMode="auto">
                <a:xfrm>
                  <a:off x="8642350" y="7943850"/>
                  <a:ext cx="2678113" cy="3181350"/>
                </a:xfrm>
                <a:custGeom>
                  <a:avLst/>
                  <a:gdLst>
                    <a:gd name="T0" fmla="*/ 59 w 96"/>
                    <a:gd name="T1" fmla="*/ 20 h 114"/>
                    <a:gd name="T2" fmla="*/ 48 w 96"/>
                    <a:gd name="T3" fmla="*/ 0 h 114"/>
                    <a:gd name="T4" fmla="*/ 37 w 96"/>
                    <a:gd name="T5" fmla="*/ 20 h 114"/>
                    <a:gd name="T6" fmla="*/ 0 w 96"/>
                    <a:gd name="T7" fmla="*/ 66 h 114"/>
                    <a:gd name="T8" fmla="*/ 48 w 96"/>
                    <a:gd name="T9" fmla="*/ 114 h 114"/>
                    <a:gd name="T10" fmla="*/ 96 w 96"/>
                    <a:gd name="T11" fmla="*/ 66 h 114"/>
                    <a:gd name="T12" fmla="*/ 59 w 96"/>
                    <a:gd name="T13" fmla="*/ 20 h 114"/>
                    <a:gd name="T14" fmla="*/ 48 w 96"/>
                    <a:gd name="T15" fmla="*/ 106 h 114"/>
                    <a:gd name="T16" fmla="*/ 8 w 96"/>
                    <a:gd name="T17" fmla="*/ 66 h 114"/>
                    <a:gd name="T18" fmla="*/ 48 w 96"/>
                    <a:gd name="T19" fmla="*/ 27 h 114"/>
                    <a:gd name="T20" fmla="*/ 88 w 96"/>
                    <a:gd name="T21" fmla="*/ 66 h 114"/>
                    <a:gd name="T22" fmla="*/ 48 w 96"/>
                    <a:gd name="T23" fmla="*/ 106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6" h="114">
                      <a:moveTo>
                        <a:pt x="59" y="20"/>
                      </a:move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37" y="20"/>
                        <a:pt x="37" y="20"/>
                        <a:pt x="37" y="20"/>
                      </a:cubicBezTo>
                      <a:cubicBezTo>
                        <a:pt x="16" y="25"/>
                        <a:pt x="0" y="44"/>
                        <a:pt x="0" y="66"/>
                      </a:cubicBezTo>
                      <a:cubicBezTo>
                        <a:pt x="0" y="93"/>
                        <a:pt x="22" y="114"/>
                        <a:pt x="48" y="114"/>
                      </a:cubicBezTo>
                      <a:cubicBezTo>
                        <a:pt x="74" y="114"/>
                        <a:pt x="96" y="93"/>
                        <a:pt x="96" y="66"/>
                      </a:cubicBezTo>
                      <a:cubicBezTo>
                        <a:pt x="96" y="44"/>
                        <a:pt x="80" y="25"/>
                        <a:pt x="59" y="20"/>
                      </a:cubicBezTo>
                      <a:close/>
                      <a:moveTo>
                        <a:pt x="48" y="106"/>
                      </a:moveTo>
                      <a:cubicBezTo>
                        <a:pt x="26" y="106"/>
                        <a:pt x="8" y="88"/>
                        <a:pt x="8" y="66"/>
                      </a:cubicBezTo>
                      <a:cubicBezTo>
                        <a:pt x="8" y="44"/>
                        <a:pt x="26" y="27"/>
                        <a:pt x="48" y="27"/>
                      </a:cubicBezTo>
                      <a:cubicBezTo>
                        <a:pt x="70" y="27"/>
                        <a:pt x="88" y="44"/>
                        <a:pt x="88" y="66"/>
                      </a:cubicBezTo>
                      <a:cubicBezTo>
                        <a:pt x="88" y="88"/>
                        <a:pt x="70" y="106"/>
                        <a:pt x="48" y="10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1" name="Rectangle 7"/>
                <p:cNvSpPr>
                  <a:spLocks noChangeArrowheads="1"/>
                </p:cNvSpPr>
                <p:nvPr/>
              </p:nvSpPr>
              <p:spPr bwMode="auto">
                <a:xfrm>
                  <a:off x="3816350" y="7344741"/>
                  <a:ext cx="12510309" cy="1523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2" name="Oval 8"/>
                <p:cNvSpPr>
                  <a:spLocks noChangeArrowheads="1"/>
                </p:cNvSpPr>
                <p:nvPr/>
              </p:nvSpPr>
              <p:spPr bwMode="auto">
                <a:xfrm>
                  <a:off x="5211763" y="7189788"/>
                  <a:ext cx="585788" cy="558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3" name="Oval 9"/>
                <p:cNvSpPr>
                  <a:spLocks noChangeArrowheads="1"/>
                </p:cNvSpPr>
                <p:nvPr/>
              </p:nvSpPr>
              <p:spPr bwMode="auto">
                <a:xfrm>
                  <a:off x="9702800" y="7189788"/>
                  <a:ext cx="557213" cy="5588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4" name="Oval 10"/>
                <p:cNvSpPr>
                  <a:spLocks noChangeArrowheads="1"/>
                </p:cNvSpPr>
                <p:nvPr/>
              </p:nvSpPr>
              <p:spPr bwMode="auto">
                <a:xfrm>
                  <a:off x="14165263" y="7189788"/>
                  <a:ext cx="585788" cy="558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6" name="Freeform 12"/>
                <p:cNvSpPr>
                  <a:spLocks noEditPoints="1"/>
                </p:cNvSpPr>
                <p:nvPr/>
              </p:nvSpPr>
              <p:spPr bwMode="auto">
                <a:xfrm>
                  <a:off x="4179888" y="3870325"/>
                  <a:ext cx="2649538" cy="3179763"/>
                </a:xfrm>
                <a:custGeom>
                  <a:avLst/>
                  <a:gdLst>
                    <a:gd name="T0" fmla="*/ 48 w 95"/>
                    <a:gd name="T1" fmla="*/ 0 h 114"/>
                    <a:gd name="T2" fmla="*/ 0 w 95"/>
                    <a:gd name="T3" fmla="*/ 48 h 114"/>
                    <a:gd name="T4" fmla="*/ 36 w 95"/>
                    <a:gd name="T5" fmla="*/ 94 h 114"/>
                    <a:gd name="T6" fmla="*/ 48 w 95"/>
                    <a:gd name="T7" fmla="*/ 114 h 114"/>
                    <a:gd name="T8" fmla="*/ 59 w 95"/>
                    <a:gd name="T9" fmla="*/ 94 h 114"/>
                    <a:gd name="T10" fmla="*/ 95 w 95"/>
                    <a:gd name="T11" fmla="*/ 48 h 114"/>
                    <a:gd name="T12" fmla="*/ 48 w 95"/>
                    <a:gd name="T13" fmla="*/ 0 h 114"/>
                    <a:gd name="T14" fmla="*/ 48 w 95"/>
                    <a:gd name="T15" fmla="*/ 88 h 114"/>
                    <a:gd name="T16" fmla="*/ 8 w 95"/>
                    <a:gd name="T17" fmla="*/ 48 h 114"/>
                    <a:gd name="T18" fmla="*/ 48 w 95"/>
                    <a:gd name="T19" fmla="*/ 8 h 114"/>
                    <a:gd name="T20" fmla="*/ 87 w 95"/>
                    <a:gd name="T21" fmla="*/ 48 h 114"/>
                    <a:gd name="T22" fmla="*/ 48 w 95"/>
                    <a:gd name="T23" fmla="*/ 88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5" h="114">
                      <a:moveTo>
                        <a:pt x="48" y="0"/>
                      </a:moveTo>
                      <a:cubicBezTo>
                        <a:pt x="21" y="0"/>
                        <a:pt x="0" y="21"/>
                        <a:pt x="0" y="48"/>
                      </a:cubicBezTo>
                      <a:cubicBezTo>
                        <a:pt x="0" y="70"/>
                        <a:pt x="15" y="89"/>
                        <a:pt x="36" y="94"/>
                      </a:cubicBezTo>
                      <a:cubicBezTo>
                        <a:pt x="48" y="114"/>
                        <a:pt x="48" y="114"/>
                        <a:pt x="48" y="114"/>
                      </a:cubicBezTo>
                      <a:cubicBezTo>
                        <a:pt x="59" y="94"/>
                        <a:pt x="59" y="94"/>
                        <a:pt x="59" y="94"/>
                      </a:cubicBezTo>
                      <a:cubicBezTo>
                        <a:pt x="80" y="89"/>
                        <a:pt x="95" y="70"/>
                        <a:pt x="95" y="48"/>
                      </a:cubicBezTo>
                      <a:cubicBezTo>
                        <a:pt x="95" y="21"/>
                        <a:pt x="74" y="0"/>
                        <a:pt x="48" y="0"/>
                      </a:cubicBezTo>
                      <a:close/>
                      <a:moveTo>
                        <a:pt x="48" y="88"/>
                      </a:moveTo>
                      <a:cubicBezTo>
                        <a:pt x="26" y="88"/>
                        <a:pt x="8" y="70"/>
                        <a:pt x="8" y="48"/>
                      </a:cubicBezTo>
                      <a:cubicBezTo>
                        <a:pt x="8" y="26"/>
                        <a:pt x="26" y="8"/>
                        <a:pt x="48" y="8"/>
                      </a:cubicBezTo>
                      <a:cubicBezTo>
                        <a:pt x="70" y="8"/>
                        <a:pt x="87" y="26"/>
                        <a:pt x="87" y="48"/>
                      </a:cubicBezTo>
                      <a:cubicBezTo>
                        <a:pt x="87" y="70"/>
                        <a:pt x="70" y="88"/>
                        <a:pt x="48" y="8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38" name="Freeform 14"/>
                <p:cNvSpPr>
                  <a:spLocks noEditPoints="1"/>
                </p:cNvSpPr>
                <p:nvPr/>
              </p:nvSpPr>
              <p:spPr bwMode="auto">
                <a:xfrm>
                  <a:off x="13133388" y="3870325"/>
                  <a:ext cx="2649538" cy="3179763"/>
                </a:xfrm>
                <a:custGeom>
                  <a:avLst/>
                  <a:gdLst>
                    <a:gd name="T0" fmla="*/ 48 w 95"/>
                    <a:gd name="T1" fmla="*/ 0 h 114"/>
                    <a:gd name="T2" fmla="*/ 0 w 95"/>
                    <a:gd name="T3" fmla="*/ 48 h 114"/>
                    <a:gd name="T4" fmla="*/ 36 w 95"/>
                    <a:gd name="T5" fmla="*/ 94 h 114"/>
                    <a:gd name="T6" fmla="*/ 48 w 95"/>
                    <a:gd name="T7" fmla="*/ 114 h 114"/>
                    <a:gd name="T8" fmla="*/ 59 w 95"/>
                    <a:gd name="T9" fmla="*/ 94 h 114"/>
                    <a:gd name="T10" fmla="*/ 95 w 95"/>
                    <a:gd name="T11" fmla="*/ 48 h 114"/>
                    <a:gd name="T12" fmla="*/ 48 w 95"/>
                    <a:gd name="T13" fmla="*/ 0 h 114"/>
                    <a:gd name="T14" fmla="*/ 48 w 95"/>
                    <a:gd name="T15" fmla="*/ 88 h 114"/>
                    <a:gd name="T16" fmla="*/ 8 w 95"/>
                    <a:gd name="T17" fmla="*/ 48 h 114"/>
                    <a:gd name="T18" fmla="*/ 48 w 95"/>
                    <a:gd name="T19" fmla="*/ 8 h 114"/>
                    <a:gd name="T20" fmla="*/ 87 w 95"/>
                    <a:gd name="T21" fmla="*/ 48 h 114"/>
                    <a:gd name="T22" fmla="*/ 48 w 95"/>
                    <a:gd name="T23" fmla="*/ 88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5" h="114">
                      <a:moveTo>
                        <a:pt x="48" y="0"/>
                      </a:moveTo>
                      <a:cubicBezTo>
                        <a:pt x="21" y="0"/>
                        <a:pt x="0" y="21"/>
                        <a:pt x="0" y="48"/>
                      </a:cubicBezTo>
                      <a:cubicBezTo>
                        <a:pt x="0" y="70"/>
                        <a:pt x="15" y="89"/>
                        <a:pt x="36" y="94"/>
                      </a:cubicBezTo>
                      <a:cubicBezTo>
                        <a:pt x="48" y="114"/>
                        <a:pt x="48" y="114"/>
                        <a:pt x="48" y="114"/>
                      </a:cubicBezTo>
                      <a:cubicBezTo>
                        <a:pt x="59" y="94"/>
                        <a:pt x="59" y="94"/>
                        <a:pt x="59" y="94"/>
                      </a:cubicBezTo>
                      <a:cubicBezTo>
                        <a:pt x="80" y="89"/>
                        <a:pt x="95" y="70"/>
                        <a:pt x="95" y="48"/>
                      </a:cubicBezTo>
                      <a:cubicBezTo>
                        <a:pt x="95" y="21"/>
                        <a:pt x="74" y="0"/>
                        <a:pt x="48" y="0"/>
                      </a:cubicBezTo>
                      <a:close/>
                      <a:moveTo>
                        <a:pt x="48" y="88"/>
                      </a:moveTo>
                      <a:cubicBezTo>
                        <a:pt x="26" y="88"/>
                        <a:pt x="8" y="70"/>
                        <a:pt x="8" y="48"/>
                      </a:cubicBezTo>
                      <a:cubicBezTo>
                        <a:pt x="8" y="26"/>
                        <a:pt x="26" y="8"/>
                        <a:pt x="48" y="8"/>
                      </a:cubicBezTo>
                      <a:cubicBezTo>
                        <a:pt x="69" y="8"/>
                        <a:pt x="87" y="26"/>
                        <a:pt x="87" y="48"/>
                      </a:cubicBezTo>
                      <a:cubicBezTo>
                        <a:pt x="87" y="70"/>
                        <a:pt x="69" y="88"/>
                        <a:pt x="48" y="8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45720" tIns="22860" rIns="45720" bIns="22860" numCol="1" anchor="t" anchorCtr="0" compatLnSpc="1"/>
                <a:p>
                  <a:endParaRPr lang="th-TH" sz="900">
                    <a:solidFill>
                      <a:schemeClr val="bg1">
                        <a:lumMod val="85000"/>
                      </a:schemeClr>
                    </a:solidFill>
                    <a:cs typeface="Inter" panose="02000503000000020004" charset="0"/>
                  </a:endParaRPr>
                </a:p>
              </p:txBody>
            </p:sp>
          </p:grpSp>
          <p:grpSp>
            <p:nvGrpSpPr>
              <p:cNvPr id="28" name="กลุ่ม 21"/>
              <p:cNvGrpSpPr/>
              <p:nvPr/>
            </p:nvGrpSpPr>
            <p:grpSpPr>
              <a:xfrm>
                <a:off x="3866832" y="7850559"/>
                <a:ext cx="3293181" cy="1107709"/>
                <a:chOff x="9821246" y="5875723"/>
                <a:chExt cx="3293181" cy="1107709"/>
              </a:xfrm>
            </p:grpSpPr>
            <p:sp>
              <p:nvSpPr>
                <p:cNvPr id="29" name="Round Same Side Corner Rectangle 59"/>
                <p:cNvSpPr/>
                <p:nvPr/>
              </p:nvSpPr>
              <p:spPr>
                <a:xfrm rot="5400000">
                  <a:off x="10890575" y="4836873"/>
                  <a:ext cx="1106073" cy="3183773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47" name="TextBox 28"/>
                <p:cNvSpPr txBox="1"/>
                <p:nvPr/>
              </p:nvSpPr>
              <p:spPr>
                <a:xfrm>
                  <a:off x="9821246" y="5876089"/>
                  <a:ext cx="3293181" cy="11073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Xu h</a:t>
                  </a:r>
                  <a:r>
                    <a:rPr lang="" altLang="en-US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ư</a:t>
                  </a:r>
                  <a:r>
                    <a:rPr lang="en-US" altLang="en-US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ớng doanh thu</a:t>
                  </a:r>
                  <a:endParaRPr lang="en-US" altLang="en-US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  <p:sp>
            <p:nvSpPr>
              <p:cNvPr id="48" name="TextBox 8"/>
              <p:cNvSpPr txBox="1"/>
              <p:nvPr/>
            </p:nvSpPr>
            <p:spPr>
              <a:xfrm>
                <a:off x="3359466" y="9273048"/>
                <a:ext cx="4288632" cy="956226"/>
              </a:xfrm>
              <a:prstGeom prst="rect">
                <a:avLst/>
              </a:prstGeom>
              <a:noFill/>
            </p:spPr>
            <p:txBody>
              <a:bodyPr wrap="square" lIns="109709" tIns="54855" rIns="109709" bIns="54855" rtlCol="0">
                <a:spAutoFit/>
              </a:bodyPr>
              <a:p>
                <a:pPr algn="ctr"/>
                <a:r>
                  <a:rPr lang="en-US" altLang="en-US" sz="12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Biểu đồ đường (Line Chart) theo Năm - Tháng.</a:t>
                </a:r>
                <a:endParaRPr lang="en-US" sz="120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  <p:grpSp>
            <p:nvGrpSpPr>
              <p:cNvPr id="49" name="กลุ่ม 30"/>
              <p:cNvGrpSpPr/>
              <p:nvPr/>
            </p:nvGrpSpPr>
            <p:grpSpPr>
              <a:xfrm>
                <a:off x="8193651" y="4038601"/>
                <a:ext cx="3293181" cy="1339733"/>
                <a:chOff x="9821246" y="5958900"/>
                <a:chExt cx="3293181" cy="1339733"/>
              </a:xfrm>
            </p:grpSpPr>
            <p:sp>
              <p:nvSpPr>
                <p:cNvPr id="50" name="Round Same Side Corner Rectangle 59"/>
                <p:cNvSpPr/>
                <p:nvPr/>
              </p:nvSpPr>
              <p:spPr>
                <a:xfrm rot="5400000">
                  <a:off x="10744536" y="5036880"/>
                  <a:ext cx="1339733" cy="3183773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52" name="TextBox 26"/>
                <p:cNvSpPr txBox="1"/>
                <p:nvPr/>
              </p:nvSpPr>
              <p:spPr>
                <a:xfrm>
                  <a:off x="9821246" y="6028476"/>
                  <a:ext cx="3293181" cy="1230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sz="20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Trạng thái </a:t>
                  </a:r>
                  <a:r>
                    <a:rPr lang="" altLang="en-US" sz="20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đ</a:t>
                  </a:r>
                  <a:r>
                    <a:rPr lang="en-US" altLang="en-US" sz="2000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ơn hàng </a:t>
                  </a:r>
                  <a:endParaRPr lang="en-US" altLang="en-US" sz="20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  <p:sp>
            <p:nvSpPr>
              <p:cNvPr id="53" name="TextBox 10"/>
              <p:cNvSpPr txBox="1"/>
              <p:nvPr/>
            </p:nvSpPr>
            <p:spPr>
              <a:xfrm>
                <a:off x="7648257" y="5525724"/>
                <a:ext cx="4283710" cy="956226"/>
              </a:xfrm>
              <a:prstGeom prst="rect">
                <a:avLst/>
              </a:prstGeom>
              <a:noFill/>
            </p:spPr>
            <p:txBody>
              <a:bodyPr wrap="square" lIns="109709" tIns="54855" rIns="109709" bIns="54855" rtlCol="0">
                <a:spAutoFit/>
              </a:bodyPr>
              <a:p>
                <a:pPr algn="ctr"/>
                <a:r>
                  <a:rPr lang="en-US" altLang="en-US" sz="12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Biểu đồ tròn (Pie Chart) thể hiện tỷ lệ.</a:t>
                </a:r>
                <a:endParaRPr lang="en-US" altLang="en-US" sz="1200" dirty="0">
                  <a:solidFill>
                    <a:schemeClr val="bg1">
                      <a:lumMod val="85000"/>
                    </a:schemeClr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  <p:grpSp>
            <p:nvGrpSpPr>
              <p:cNvPr id="54" name="กลุ่ม 34"/>
              <p:cNvGrpSpPr/>
              <p:nvPr/>
            </p:nvGrpSpPr>
            <p:grpSpPr>
              <a:xfrm>
                <a:off x="12858895" y="7857536"/>
                <a:ext cx="3328278" cy="753065"/>
                <a:chOff x="9821709" y="5958900"/>
                <a:chExt cx="3328278" cy="753065"/>
              </a:xfrm>
            </p:grpSpPr>
            <p:sp>
              <p:nvSpPr>
                <p:cNvPr id="55" name="Round Same Side Corner Rectangle 59"/>
                <p:cNvSpPr/>
                <p:nvPr/>
              </p:nvSpPr>
              <p:spPr>
                <a:xfrm rot="5400000">
                  <a:off x="11037255" y="4743353"/>
                  <a:ext cx="753065" cy="3184158"/>
                </a:xfrm>
                <a:prstGeom prst="round2SameRect">
                  <a:avLst>
                    <a:gd name="adj1" fmla="val 50000"/>
                    <a:gd name="adj2" fmla="val 50000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9709" tIns="54855" rIns="109709" bIns="54855" rtlCol="0" anchor="ctr"/>
                <a:p>
                  <a:pPr algn="r"/>
                  <a:endParaRPr lang="bg-BG" sz="900" dirty="0">
                    <a:solidFill>
                      <a:schemeClr val="bg1">
                        <a:lumMod val="85000"/>
                      </a:schemeClr>
                    </a:solidFill>
                    <a:latin typeface="Inter Black" panose="02000503000000020004" charset="0"/>
                    <a:cs typeface="Inter" panose="02000503000000020004" charset="0"/>
                  </a:endParaRPr>
                </a:p>
              </p:txBody>
            </p:sp>
            <p:sp>
              <p:nvSpPr>
                <p:cNvPr id="73" name="TextBox 24"/>
                <p:cNvSpPr txBox="1"/>
                <p:nvPr/>
              </p:nvSpPr>
              <p:spPr>
                <a:xfrm>
                  <a:off x="9856806" y="6036096"/>
                  <a:ext cx="3293181" cy="5536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p>
                  <a:pPr algn="ctr"/>
                  <a:r>
                    <a:rPr lang="en-US" altLang="en-US" dirty="0" smtClean="0">
                      <a:solidFill>
                        <a:schemeClr val="bg1"/>
                      </a:solidFill>
                      <a:latin typeface="Inter Black" panose="02000503000000020004" charset="0"/>
                      <a:ea typeface="Inter Black" panose="02000503000000020004" charset="0"/>
                      <a:cs typeface="Inter Black" panose="02000503000000020004" charset="0"/>
                      <a:sym typeface="+mn-ea"/>
                    </a:rPr>
                    <a:t>Top sản phẩm </a:t>
                  </a:r>
                  <a:endParaRPr lang="en-US" altLang="en-US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endParaRPr>
                </a:p>
              </p:txBody>
            </p:sp>
          </p:grpSp>
        </p:grpSp>
        <p:pic>
          <p:nvPicPr>
            <p:cNvPr id="77" name="图片 76" descr="343439383331313b343532303032383bbfcdbba7b9dcc0ed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2" y="3816"/>
              <a:ext cx="798" cy="798"/>
            </a:xfrm>
            <a:prstGeom prst="rect">
              <a:avLst/>
            </a:prstGeom>
          </p:spPr>
        </p:pic>
        <p:pic>
          <p:nvPicPr>
            <p:cNvPr id="78" name="图片 77" descr="343439383331313b343532303032373bbfcdbba7b5b5b0b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94" y="7442"/>
              <a:ext cx="795" cy="795"/>
            </a:xfrm>
            <a:prstGeom prst="rect">
              <a:avLst/>
            </a:prstGeom>
          </p:spPr>
        </p:pic>
        <p:pic>
          <p:nvPicPr>
            <p:cNvPr id="79" name="图片 78" descr="343435383037343b343532333834323bbdb1b1ad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40" y="3816"/>
              <a:ext cx="801" cy="801"/>
            </a:xfrm>
            <a:prstGeom prst="rect">
              <a:avLst/>
            </a:prstGeom>
          </p:spPr>
        </p:pic>
        <p:sp>
          <p:nvSpPr>
            <p:cNvPr id="81" name="TextBox 10"/>
            <p:cNvSpPr txBox="1"/>
            <p:nvPr/>
          </p:nvSpPr>
          <p:spPr>
            <a:xfrm>
              <a:off x="9715" y="7152"/>
              <a:ext cx="3373" cy="1626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ctr"/>
              <a:r>
                <a:rPr lang="en-US" altLang="en-US" sz="12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Biểu đồ thanh ngang (Horizontal Bar Chart). Nhãn chữ danh mục căn trái sạch sẽ, hiển thị mã ID qua bong bóng Hover.</a:t>
              </a:r>
              <a:endParaRPr lang="en-US" sz="12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7095" y="4325"/>
                <a:ext cx="7967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en-US" sz="4400" i="1">
                    <a:ln>
                      <a:noFill/>
                    </a:ln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Kết luận &amp; Hướng phát triển</a:t>
                </a:r>
                <a:endParaRPr lang="en-US" altLang="en-US" sz="44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806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05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41" name="平行四边形 40"/>
          <p:cNvSpPr/>
          <p:nvPr>
            <p:custDataLst>
              <p:tags r:id="rId2"/>
            </p:custDataLst>
          </p:nvPr>
        </p:nvSpPr>
        <p:spPr>
          <a:xfrm rot="10800000" flipH="1">
            <a:off x="926465" y="1130618"/>
            <a:ext cx="10328275" cy="498602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2210" y="305435"/>
            <a:ext cx="47682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Kết luận &amp; Hướng phát triển</a:t>
            </a:r>
            <a:endParaRPr lang="zh-CN" altLang="en-US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257618" y="1413510"/>
            <a:ext cx="9470390" cy="4420235"/>
            <a:chOff x="2228" y="2400"/>
            <a:chExt cx="14914" cy="6961"/>
          </a:xfrm>
        </p:grpSpPr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8970" y="2400"/>
              <a:ext cx="1363" cy="13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19" name="Freeform 7"/>
            <p:cNvSpPr/>
            <p:nvPr/>
          </p:nvSpPr>
          <p:spPr bwMode="auto">
            <a:xfrm>
              <a:off x="7837" y="2925"/>
              <a:ext cx="3629" cy="624"/>
            </a:xfrm>
            <a:custGeom>
              <a:avLst/>
              <a:gdLst>
                <a:gd name="T0" fmla="*/ 20 w 221"/>
                <a:gd name="T1" fmla="*/ 38 h 38"/>
                <a:gd name="T2" fmla="*/ 111 w 221"/>
                <a:gd name="T3" fmla="*/ 11 h 38"/>
                <a:gd name="T4" fmla="*/ 202 w 221"/>
                <a:gd name="T5" fmla="*/ 38 h 38"/>
                <a:gd name="T6" fmla="*/ 221 w 221"/>
                <a:gd name="T7" fmla="*/ 38 h 38"/>
                <a:gd name="T8" fmla="*/ 212 w 221"/>
                <a:gd name="T9" fmla="*/ 31 h 38"/>
                <a:gd name="T10" fmla="*/ 111 w 221"/>
                <a:gd name="T11" fmla="*/ 0 h 38"/>
                <a:gd name="T12" fmla="*/ 9 w 221"/>
                <a:gd name="T13" fmla="*/ 31 h 38"/>
                <a:gd name="T14" fmla="*/ 0 w 221"/>
                <a:gd name="T15" fmla="*/ 38 h 38"/>
                <a:gd name="T16" fmla="*/ 20 w 221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" h="38">
                  <a:moveTo>
                    <a:pt x="20" y="38"/>
                  </a:moveTo>
                  <a:cubicBezTo>
                    <a:pt x="47" y="20"/>
                    <a:pt x="78" y="11"/>
                    <a:pt x="111" y="11"/>
                  </a:cubicBezTo>
                  <a:cubicBezTo>
                    <a:pt x="143" y="11"/>
                    <a:pt x="174" y="20"/>
                    <a:pt x="202" y="38"/>
                  </a:cubicBezTo>
                  <a:cubicBezTo>
                    <a:pt x="221" y="38"/>
                    <a:pt x="221" y="38"/>
                    <a:pt x="221" y="38"/>
                  </a:cubicBezTo>
                  <a:cubicBezTo>
                    <a:pt x="212" y="31"/>
                    <a:pt x="212" y="31"/>
                    <a:pt x="212" y="31"/>
                  </a:cubicBezTo>
                  <a:cubicBezTo>
                    <a:pt x="182" y="11"/>
                    <a:pt x="147" y="0"/>
                    <a:pt x="111" y="0"/>
                  </a:cubicBezTo>
                  <a:cubicBezTo>
                    <a:pt x="74" y="0"/>
                    <a:pt x="39" y="11"/>
                    <a:pt x="9" y="31"/>
                  </a:cubicBezTo>
                  <a:cubicBezTo>
                    <a:pt x="0" y="38"/>
                    <a:pt x="0" y="38"/>
                    <a:pt x="0" y="38"/>
                  </a:cubicBezTo>
                  <a:lnTo>
                    <a:pt x="20" y="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8970" y="7999"/>
              <a:ext cx="1363" cy="136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1" name="Freeform 9"/>
            <p:cNvSpPr/>
            <p:nvPr/>
          </p:nvSpPr>
          <p:spPr bwMode="auto">
            <a:xfrm>
              <a:off x="7821" y="8212"/>
              <a:ext cx="3662" cy="624"/>
            </a:xfrm>
            <a:custGeom>
              <a:avLst/>
              <a:gdLst>
                <a:gd name="T0" fmla="*/ 204 w 223"/>
                <a:gd name="T1" fmla="*/ 0 h 38"/>
                <a:gd name="T2" fmla="*/ 203 w 223"/>
                <a:gd name="T3" fmla="*/ 0 h 38"/>
                <a:gd name="T4" fmla="*/ 112 w 223"/>
                <a:gd name="T5" fmla="*/ 27 h 38"/>
                <a:gd name="T6" fmla="*/ 20 w 223"/>
                <a:gd name="T7" fmla="*/ 0 h 38"/>
                <a:gd name="T8" fmla="*/ 19 w 223"/>
                <a:gd name="T9" fmla="*/ 0 h 38"/>
                <a:gd name="T10" fmla="*/ 0 w 223"/>
                <a:gd name="T11" fmla="*/ 0 h 38"/>
                <a:gd name="T12" fmla="*/ 10 w 223"/>
                <a:gd name="T13" fmla="*/ 7 h 38"/>
                <a:gd name="T14" fmla="*/ 112 w 223"/>
                <a:gd name="T15" fmla="*/ 38 h 38"/>
                <a:gd name="T16" fmla="*/ 213 w 223"/>
                <a:gd name="T17" fmla="*/ 7 h 38"/>
                <a:gd name="T18" fmla="*/ 223 w 223"/>
                <a:gd name="T19" fmla="*/ 0 h 38"/>
                <a:gd name="T20" fmla="*/ 204 w 223"/>
                <a:gd name="T2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3" h="38">
                  <a:moveTo>
                    <a:pt x="204" y="0"/>
                  </a:moveTo>
                  <a:cubicBezTo>
                    <a:pt x="203" y="0"/>
                    <a:pt x="203" y="0"/>
                    <a:pt x="203" y="0"/>
                  </a:cubicBezTo>
                  <a:cubicBezTo>
                    <a:pt x="176" y="17"/>
                    <a:pt x="144" y="27"/>
                    <a:pt x="112" y="27"/>
                  </a:cubicBezTo>
                  <a:cubicBezTo>
                    <a:pt x="79" y="27"/>
                    <a:pt x="47" y="17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40" y="27"/>
                    <a:pt x="75" y="38"/>
                    <a:pt x="112" y="38"/>
                  </a:cubicBezTo>
                  <a:cubicBezTo>
                    <a:pt x="148" y="38"/>
                    <a:pt x="183" y="27"/>
                    <a:pt x="213" y="7"/>
                  </a:cubicBezTo>
                  <a:cubicBezTo>
                    <a:pt x="223" y="0"/>
                    <a:pt x="223" y="0"/>
                    <a:pt x="223" y="0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2" name="Oval 10"/>
            <p:cNvSpPr>
              <a:spLocks noChangeArrowheads="1"/>
            </p:cNvSpPr>
            <p:nvPr/>
          </p:nvSpPr>
          <p:spPr bwMode="auto">
            <a:xfrm>
              <a:off x="6162" y="5207"/>
              <a:ext cx="1363" cy="134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3" name="Freeform 11"/>
            <p:cNvSpPr/>
            <p:nvPr/>
          </p:nvSpPr>
          <p:spPr bwMode="auto">
            <a:xfrm>
              <a:off x="6705" y="4059"/>
              <a:ext cx="624" cy="3644"/>
            </a:xfrm>
            <a:custGeom>
              <a:avLst/>
              <a:gdLst>
                <a:gd name="T0" fmla="*/ 38 w 38"/>
                <a:gd name="T1" fmla="*/ 202 h 222"/>
                <a:gd name="T2" fmla="*/ 11 w 38"/>
                <a:gd name="T3" fmla="*/ 111 h 222"/>
                <a:gd name="T4" fmla="*/ 38 w 38"/>
                <a:gd name="T5" fmla="*/ 20 h 222"/>
                <a:gd name="T6" fmla="*/ 38 w 38"/>
                <a:gd name="T7" fmla="*/ 0 h 222"/>
                <a:gd name="T8" fmla="*/ 31 w 38"/>
                <a:gd name="T9" fmla="*/ 9 h 222"/>
                <a:gd name="T10" fmla="*/ 0 w 38"/>
                <a:gd name="T11" fmla="*/ 111 h 222"/>
                <a:gd name="T12" fmla="*/ 31 w 38"/>
                <a:gd name="T13" fmla="*/ 213 h 222"/>
                <a:gd name="T14" fmla="*/ 38 w 38"/>
                <a:gd name="T15" fmla="*/ 222 h 222"/>
                <a:gd name="T16" fmla="*/ 38 w 38"/>
                <a:gd name="T17" fmla="*/ 20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22">
                  <a:moveTo>
                    <a:pt x="38" y="202"/>
                  </a:moveTo>
                  <a:cubicBezTo>
                    <a:pt x="20" y="175"/>
                    <a:pt x="11" y="144"/>
                    <a:pt x="11" y="111"/>
                  </a:cubicBezTo>
                  <a:cubicBezTo>
                    <a:pt x="11" y="78"/>
                    <a:pt x="20" y="47"/>
                    <a:pt x="38" y="2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10" y="40"/>
                    <a:pt x="0" y="75"/>
                    <a:pt x="0" y="111"/>
                  </a:cubicBezTo>
                  <a:cubicBezTo>
                    <a:pt x="0" y="147"/>
                    <a:pt x="10" y="182"/>
                    <a:pt x="31" y="213"/>
                  </a:cubicBezTo>
                  <a:cubicBezTo>
                    <a:pt x="38" y="222"/>
                    <a:pt x="38" y="222"/>
                    <a:pt x="38" y="222"/>
                  </a:cubicBezTo>
                  <a:lnTo>
                    <a:pt x="38" y="20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4" name="Oval 12"/>
            <p:cNvSpPr>
              <a:spLocks noChangeArrowheads="1"/>
            </p:cNvSpPr>
            <p:nvPr/>
          </p:nvSpPr>
          <p:spPr bwMode="auto">
            <a:xfrm>
              <a:off x="11777" y="5207"/>
              <a:ext cx="1363" cy="134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sp>
          <p:nvSpPr>
            <p:cNvPr id="25" name="Freeform 13"/>
            <p:cNvSpPr/>
            <p:nvPr/>
          </p:nvSpPr>
          <p:spPr bwMode="auto">
            <a:xfrm>
              <a:off x="11975" y="4041"/>
              <a:ext cx="624" cy="3679"/>
            </a:xfrm>
            <a:custGeom>
              <a:avLst/>
              <a:gdLst>
                <a:gd name="T0" fmla="*/ 7 w 38"/>
                <a:gd name="T1" fmla="*/ 10 h 224"/>
                <a:gd name="T2" fmla="*/ 0 w 38"/>
                <a:gd name="T3" fmla="*/ 0 h 224"/>
                <a:gd name="T4" fmla="*/ 0 w 38"/>
                <a:gd name="T5" fmla="*/ 20 h 224"/>
                <a:gd name="T6" fmla="*/ 0 w 38"/>
                <a:gd name="T7" fmla="*/ 20 h 224"/>
                <a:gd name="T8" fmla="*/ 27 w 38"/>
                <a:gd name="T9" fmla="*/ 112 h 224"/>
                <a:gd name="T10" fmla="*/ 0 w 38"/>
                <a:gd name="T11" fmla="*/ 204 h 224"/>
                <a:gd name="T12" fmla="*/ 0 w 38"/>
                <a:gd name="T13" fmla="*/ 204 h 224"/>
                <a:gd name="T14" fmla="*/ 0 w 38"/>
                <a:gd name="T15" fmla="*/ 224 h 224"/>
                <a:gd name="T16" fmla="*/ 7 w 38"/>
                <a:gd name="T17" fmla="*/ 214 h 224"/>
                <a:gd name="T18" fmla="*/ 38 w 38"/>
                <a:gd name="T19" fmla="*/ 112 h 224"/>
                <a:gd name="T20" fmla="*/ 7 w 38"/>
                <a:gd name="T21" fmla="*/ 1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" h="224">
                  <a:moveTo>
                    <a:pt x="7" y="1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8" y="47"/>
                    <a:pt x="27" y="79"/>
                    <a:pt x="27" y="112"/>
                  </a:cubicBezTo>
                  <a:cubicBezTo>
                    <a:pt x="27" y="145"/>
                    <a:pt x="18" y="177"/>
                    <a:pt x="0" y="204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7" y="214"/>
                    <a:pt x="7" y="214"/>
                    <a:pt x="7" y="214"/>
                  </a:cubicBezTo>
                  <a:cubicBezTo>
                    <a:pt x="28" y="183"/>
                    <a:pt x="38" y="148"/>
                    <a:pt x="38" y="112"/>
                  </a:cubicBezTo>
                  <a:cubicBezTo>
                    <a:pt x="38" y="76"/>
                    <a:pt x="28" y="41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/>
            <a:p>
              <a:endParaRPr lang="th-TH" sz="900">
                <a:cs typeface="Inter" panose="02000503000000020004" charset="0"/>
              </a:endParaRPr>
            </a:p>
          </p:txBody>
        </p:sp>
        <p:grpSp>
          <p:nvGrpSpPr>
            <p:cNvPr id="26" name="กลุ่ม 52"/>
            <p:cNvGrpSpPr/>
            <p:nvPr/>
          </p:nvGrpSpPr>
          <p:grpSpPr>
            <a:xfrm>
              <a:off x="2880" y="4342"/>
              <a:ext cx="2594" cy="593"/>
              <a:chOff x="9821247" y="7608531"/>
              <a:chExt cx="3293842" cy="753065"/>
            </a:xfrm>
          </p:grpSpPr>
          <p:sp>
            <p:nvSpPr>
              <p:cNvPr id="27" name="Round Same Side Corner Rectangle 59"/>
              <p:cNvSpPr/>
              <p:nvPr/>
            </p:nvSpPr>
            <p:spPr>
              <a:xfrm rot="5400000">
                <a:off x="11146477" y="6392984"/>
                <a:ext cx="753065" cy="3184158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09" tIns="54855" rIns="109709" bIns="54855" rtlCol="0" anchor="ctr"/>
              <a:p>
                <a:pPr algn="r"/>
                <a:endParaRPr lang="bg-BG" sz="900" dirty="0">
                  <a:latin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9821247" y="7746682"/>
                <a:ext cx="3293181" cy="6146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:pPr algn="ctr"/>
                <a:r>
                  <a:rPr lang="en-US" altLang="en-US" sz="20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Kết quả</a:t>
                </a:r>
                <a:endParaRPr lang="" altLang="en-US" sz="20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2228" y="5207"/>
              <a:ext cx="3934" cy="2716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en-US" sz="14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Hệ thống chạy mượt, giao diện hiện đại, không lỗi dữ liệu (NaN), hỗ trợ public nhanh qua Ngrok để demo từ xa.</a:t>
              </a:r>
              <a:endParaRPr 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grpSp>
          <p:nvGrpSpPr>
            <p:cNvPr id="30" name="กลุ่ม 56"/>
            <p:cNvGrpSpPr/>
            <p:nvPr/>
          </p:nvGrpSpPr>
          <p:grpSpPr>
            <a:xfrm>
              <a:off x="13952" y="4652"/>
              <a:ext cx="2593" cy="593"/>
              <a:chOff x="9527871" y="7980619"/>
              <a:chExt cx="3293181" cy="753065"/>
            </a:xfrm>
          </p:grpSpPr>
          <p:sp>
            <p:nvSpPr>
              <p:cNvPr id="31" name="Round Same Side Corner Rectangle 59"/>
              <p:cNvSpPr/>
              <p:nvPr/>
            </p:nvSpPr>
            <p:spPr>
              <a:xfrm rot="5400000">
                <a:off x="10743879" y="6765072"/>
                <a:ext cx="753065" cy="3184158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9709" tIns="54855" rIns="109709" bIns="54855" rtlCol="0" anchor="ctr"/>
              <a:p>
                <a:pPr algn="r"/>
                <a:endParaRPr lang="bg-BG" sz="900" dirty="0">
                  <a:latin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9527871" y="8070513"/>
                <a:ext cx="3293181" cy="6146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p>
                <a:pPr algn="ctr"/>
                <a:r>
                  <a:rPr lang="en-US" altLang="en-US" sz="2000" dirty="0" smtClean="0">
                    <a:solidFill>
                      <a:schemeClr val="bg1"/>
                    </a:solidFill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Phát triển </a:t>
                </a:r>
                <a:endParaRPr lang="en-US" sz="20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  <p:pic>
          <p:nvPicPr>
            <p:cNvPr id="2" name="图片 1" descr="333639373138363b343435303739363bd2b5cef1bcbcc4dc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71" y="2805"/>
              <a:ext cx="553" cy="553"/>
            </a:xfrm>
            <a:prstGeom prst="rect">
              <a:avLst/>
            </a:prstGeom>
          </p:spPr>
        </p:pic>
        <p:pic>
          <p:nvPicPr>
            <p:cNvPr id="5" name="图片 4" descr="333639373138363b343435303832363bb2bfc3c5c1aacfb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42" y="5559"/>
              <a:ext cx="648" cy="648"/>
            </a:xfrm>
            <a:prstGeom prst="rect">
              <a:avLst/>
            </a:prstGeom>
          </p:spPr>
        </p:pic>
        <p:pic>
          <p:nvPicPr>
            <p:cNvPr id="7" name="图片 6" descr="343435383036303b343532343136313bcfeec4bfb0d1bfd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19" y="8347"/>
              <a:ext cx="666" cy="666"/>
            </a:xfrm>
            <a:prstGeom prst="rect">
              <a:avLst/>
            </a:prstGeom>
          </p:spPr>
        </p:pic>
        <p:pic>
          <p:nvPicPr>
            <p:cNvPr id="42" name="图片 41" descr="343435383037343b343533303738313bb1e3c0fbccf9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202" y="5598"/>
              <a:ext cx="570" cy="570"/>
            </a:xfrm>
            <a:prstGeom prst="rect">
              <a:avLst/>
            </a:prstGeom>
          </p:spPr>
        </p:pic>
        <p:sp>
          <p:nvSpPr>
            <p:cNvPr id="16" name="TextBox 28"/>
            <p:cNvSpPr txBox="1"/>
            <p:nvPr/>
          </p:nvSpPr>
          <p:spPr>
            <a:xfrm>
              <a:off x="13269" y="5598"/>
              <a:ext cx="3873" cy="1529"/>
            </a:xfrm>
            <a:prstGeom prst="rect">
              <a:avLst/>
            </a:prstGeom>
            <a:noFill/>
          </p:spPr>
          <p:txBody>
            <a:bodyPr wrap="square" lIns="109709" tIns="54855" rIns="109709" bIns="54855" rtlCol="0">
              <a:spAutoFit/>
            </a:bodyPr>
            <a:p>
              <a:pPr algn="ctr"/>
              <a:r>
                <a:rPr lang="en-US" altLang="en-US" sz="1400" dirty="0" smtClean="0">
                  <a:solidFill>
                    <a:schemeClr val="bg1"/>
                  </a:solidFill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rPr>
                <a:t>Tích hợp Machine Learning dự báo doanh thu, thêm biểu đồ bản đồ nhiệt (Heatmap) theo vị trí địa lý.</a:t>
              </a:r>
              <a:endParaRPr lang="en-US" sz="1400" dirty="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2413318" y="316611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vi-VN" altLang="zh-CN" sz="6000"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FOR WATCHING</a:t>
            </a:r>
            <a:endParaRPr lang="vi-VN" altLang="zh-CN" sz="6000"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2413635" y="2252980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THANK YOU</a:t>
            </a:r>
            <a:endParaRPr lang="zh-CN" altLang="en-US" sz="6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2" name="任意多边形: 形状 14"/>
          <p:cNvSpPr/>
          <p:nvPr>
            <p:custDataLst>
              <p:tags r:id="rId4"/>
            </p:custDataLst>
          </p:nvPr>
        </p:nvSpPr>
        <p:spPr>
          <a:xfrm>
            <a:off x="2377516" y="4206476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5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19455" y="680720"/>
            <a:ext cx="2407920" cy="501650"/>
            <a:chOff x="1133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6"/>
              </p:custDataLst>
            </p:nvPr>
          </p:nvSpPr>
          <p:spPr>
            <a:xfrm>
              <a:off x="1403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7"/>
              </p:custDataLst>
            </p:nvPr>
          </p:nvSpPr>
          <p:spPr>
            <a:xfrm>
              <a:off x="1133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5" name="任意多边形: 形状 21"/>
          <p:cNvSpPr/>
          <p:nvPr>
            <p:custDataLst>
              <p:tags r:id="rId8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9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153853" y="1996440"/>
            <a:ext cx="3869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200" cap="all" dirty="0">
                <a:solidFill>
                  <a:schemeClr val="bg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zh-CN" altLang="en-US" sz="1200" cap="all" dirty="0">
              <a:solidFill>
                <a:schemeClr val="bg1"/>
              </a:solidFill>
              <a:uFillTx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 rot="16200000">
            <a:off x="11279505" y="749082"/>
            <a:ext cx="252730" cy="375920"/>
            <a:chOff x="17336" y="1136"/>
            <a:chExt cx="466" cy="911"/>
          </a:xfrm>
          <a:solidFill>
            <a:srgbClr val="2CF5FC"/>
          </a:solidFill>
        </p:grpSpPr>
        <p:sp>
          <p:nvSpPr>
            <p:cNvPr id="14" name="矩形 13"/>
            <p:cNvSpPr/>
            <p:nvPr>
              <p:custDataLst>
                <p:tags r:id="rId13"/>
              </p:custDataLst>
            </p:nvPr>
          </p:nvSpPr>
          <p:spPr>
            <a:xfrm>
              <a:off x="17448" y="1136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14"/>
              </p:custDataLst>
            </p:nvPr>
          </p:nvSpPr>
          <p:spPr>
            <a:xfrm>
              <a:off x="17448" y="1532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5"/>
              </p:custDataLst>
            </p:nvPr>
          </p:nvSpPr>
          <p:spPr>
            <a:xfrm>
              <a:off x="17336" y="1334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6"/>
              </p:custDataLst>
            </p:nvPr>
          </p:nvSpPr>
          <p:spPr>
            <a:xfrm>
              <a:off x="17336" y="1729"/>
              <a:ext cx="466" cy="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7"/>
              </p:custDataLst>
            </p:nvPr>
          </p:nvSpPr>
          <p:spPr>
            <a:xfrm>
              <a:off x="17448" y="1927"/>
              <a:ext cx="241" cy="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endParaRPr lang="zh-CN" altLang="en-US">
                <a:noFill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endParaRPr>
            </a:p>
          </p:txBody>
        </p:sp>
      </p:grpSp>
      <p:sp>
        <p:nvSpPr>
          <p:cNvPr id="29" name="矩形 28"/>
          <p:cNvSpPr/>
          <p:nvPr>
            <p:custDataLst>
              <p:tags r:id="rId18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9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22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23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24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25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26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30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131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5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4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5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56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9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8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89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5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02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3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4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5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2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09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6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225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226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2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9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30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231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3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3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3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9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0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7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1529</Words>
  <Application>WPS Presentation</Application>
  <PresentationFormat>宽屏</PresentationFormat>
  <Paragraphs>129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7" baseType="lpstr">
      <vt:lpstr>Arial</vt:lpstr>
      <vt:lpstr>SimSun</vt:lpstr>
      <vt:lpstr>Wingdings</vt:lpstr>
      <vt:lpstr>Inter</vt:lpstr>
      <vt:lpstr>Inter Black</vt:lpstr>
      <vt:lpstr>苹方-简</vt:lpstr>
      <vt:lpstr>Wingdings</vt:lpstr>
      <vt:lpstr>Helvetica</vt:lpstr>
      <vt:lpstr>Microsoft YaHei</vt:lpstr>
      <vt:lpstr>汉仪旗黑</vt:lpstr>
      <vt:lpstr>Arial Unicode MS</vt:lpstr>
      <vt:lpstr>Lato Regular</vt:lpstr>
      <vt:lpstr>Roboto Slab Bold</vt:lpstr>
      <vt:lpstr>Roboto Slab Regular</vt:lpstr>
      <vt:lpstr>Montserrat-Regular</vt:lpstr>
      <vt:lpstr>Helvetica Light</vt:lpstr>
      <vt:lpstr>Roboto Medium</vt:lpstr>
      <vt:lpstr>Open Sans Light</vt:lpstr>
      <vt:lpstr>Thonburi</vt:lpstr>
      <vt:lpstr>Apple SD Gothic Neo</vt:lpstr>
      <vt:lpstr>宋体-简</vt:lpstr>
      <vt:lpstr>Impact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Trung Nguyễn Trần Công</cp:lastModifiedBy>
  <cp:revision>164</cp:revision>
  <dcterms:created xsi:type="dcterms:W3CDTF">2026-06-15T17:20:47Z</dcterms:created>
  <dcterms:modified xsi:type="dcterms:W3CDTF">2026-06-15T17:20:47Z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B2F79755FFA70C8AAE2B306AE66CC21B_41</vt:lpwstr>
  </property>
</Properties>
</file>